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67" r:id="rId3"/>
    <p:sldId id="273" r:id="rId4"/>
    <p:sldId id="276" r:id="rId5"/>
    <p:sldId id="277" r:id="rId6"/>
    <p:sldId id="265" r:id="rId7"/>
    <p:sldId id="274" r:id="rId8"/>
    <p:sldId id="279" r:id="rId9"/>
    <p:sldId id="283" r:id="rId10"/>
    <p:sldId id="275" r:id="rId11"/>
    <p:sldId id="281" r:id="rId12"/>
    <p:sldId id="282" r:id="rId13"/>
    <p:sldId id="284" r:id="rId14"/>
    <p:sldId id="285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B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575D6-2B28-406B-9218-75EE9A896B97}" type="datetimeFigureOut">
              <a:rPr lang="de-DE" smtClean="0"/>
              <a:t>24.06.2018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C0115-6087-4A51-9CFA-3884A1BCD8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54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5">
            <a:extLst>
              <a:ext uri="{FF2B5EF4-FFF2-40B4-BE49-F238E27FC236}">
                <a16:creationId xmlns:a16="http://schemas.microsoft.com/office/drawing/2014/main" id="{217B479B-DC3D-4FAF-B9BA-852C869ED3F6}"/>
              </a:ext>
            </a:extLst>
          </p:cNvPr>
          <p:cNvSpPr/>
          <p:nvPr/>
        </p:nvSpPr>
        <p:spPr>
          <a:xfrm rot="701816">
            <a:off x="-600341" y="6396302"/>
            <a:ext cx="4248713" cy="3503514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61B453">
                <a:alpha val="32941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sp>
        <p:nvSpPr>
          <p:cNvPr id="3" name="Rechteck 13">
            <a:extLst>
              <a:ext uri="{FF2B5EF4-FFF2-40B4-BE49-F238E27FC236}">
                <a16:creationId xmlns:a16="http://schemas.microsoft.com/office/drawing/2014/main" id="{A9CF32B3-FAB2-400D-B6C6-648A33FABB20}"/>
              </a:ext>
            </a:extLst>
          </p:cNvPr>
          <p:cNvSpPr/>
          <p:nvPr/>
        </p:nvSpPr>
        <p:spPr>
          <a:xfrm rot="1643002">
            <a:off x="9529874" y="1162918"/>
            <a:ext cx="2185754" cy="2213606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61B453">
                <a:alpha val="32941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sp>
        <p:nvSpPr>
          <p:cNvPr id="4" name="Rechteck 14">
            <a:extLst>
              <a:ext uri="{FF2B5EF4-FFF2-40B4-BE49-F238E27FC236}">
                <a16:creationId xmlns:a16="http://schemas.microsoft.com/office/drawing/2014/main" id="{DAD20A4F-CA32-440D-8AF4-457BCAE45A2D}"/>
              </a:ext>
            </a:extLst>
          </p:cNvPr>
          <p:cNvSpPr/>
          <p:nvPr/>
        </p:nvSpPr>
        <p:spPr>
          <a:xfrm rot="701816">
            <a:off x="8280293" y="3816579"/>
            <a:ext cx="4248713" cy="3503514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61B453">
                <a:alpha val="32941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pic>
        <p:nvPicPr>
          <p:cNvPr id="5" name="Grafik 16">
            <a:extLst>
              <a:ext uri="{FF2B5EF4-FFF2-40B4-BE49-F238E27FC236}">
                <a16:creationId xmlns:a16="http://schemas.microsoft.com/office/drawing/2014/main" id="{5E65A342-47D8-4DE5-BEBD-283B07913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44" y="230191"/>
            <a:ext cx="1973549" cy="63943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hteck 19">
            <a:extLst>
              <a:ext uri="{FF2B5EF4-FFF2-40B4-BE49-F238E27FC236}">
                <a16:creationId xmlns:a16="http://schemas.microsoft.com/office/drawing/2014/main" id="{F34F8B4E-7E64-4B2A-B916-D0CA9D8FC42E}"/>
              </a:ext>
            </a:extLst>
          </p:cNvPr>
          <p:cNvSpPr/>
          <p:nvPr/>
        </p:nvSpPr>
        <p:spPr>
          <a:xfrm>
            <a:off x="999238" y="1553666"/>
            <a:ext cx="508473" cy="70788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4000" b="0" i="0" u="none" strike="noStrike" kern="1200" cap="none" spc="0" baseline="0">
                <a:solidFill>
                  <a:srgbClr val="61B453"/>
                </a:solidFill>
                <a:uFillTx/>
                <a:latin typeface="Mandatory" panose="02000400000000000000" pitchFamily="2" charset="0"/>
              </a:rPr>
              <a:t>»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B0AE455-8FCD-4827-9AF3-6BB6474D9312}"/>
              </a:ext>
            </a:extLst>
          </p:cNvPr>
          <p:cNvSpPr txBox="1"/>
          <p:nvPr userDrawn="1"/>
        </p:nvSpPr>
        <p:spPr>
          <a:xfrm>
            <a:off x="10991273" y="6208499"/>
            <a:ext cx="70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355405D-DE4B-4B95-ACA0-07CE4BDBE28E}" type="slidenum">
              <a:rPr lang="de-DE" smtClean="0">
                <a:latin typeface="Mandatory" panose="02000400000000000000" pitchFamily="2" charset="0"/>
              </a:rPr>
              <a:pPr algn="r"/>
              <a:t>‹Nr.›</a:t>
            </a:fld>
            <a:endParaRPr lang="de-DE" dirty="0">
              <a:latin typeface="Mandatory" panose="02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2317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8">
            <a:extLst>
              <a:ext uri="{FF2B5EF4-FFF2-40B4-BE49-F238E27FC236}">
                <a16:creationId xmlns:a16="http://schemas.microsoft.com/office/drawing/2014/main" id="{47556919-3D62-4400-9FEE-5B528583FCDC}"/>
              </a:ext>
            </a:extLst>
          </p:cNvPr>
          <p:cNvSpPr/>
          <p:nvPr userDrawn="1"/>
        </p:nvSpPr>
        <p:spPr>
          <a:xfrm rot="1311913">
            <a:off x="-1386011" y="1445639"/>
            <a:ext cx="4217944" cy="5541227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36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pic>
        <p:nvPicPr>
          <p:cNvPr id="13" name="Grafik 10">
            <a:extLst>
              <a:ext uri="{FF2B5EF4-FFF2-40B4-BE49-F238E27FC236}">
                <a16:creationId xmlns:a16="http://schemas.microsoft.com/office/drawing/2014/main" id="{F9725EF3-A629-4617-8CB2-63C1465F3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44" y="230191"/>
            <a:ext cx="1973549" cy="63943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B54830D-E35D-4A89-91EE-08AAFA992E8C}"/>
              </a:ext>
            </a:extLst>
          </p:cNvPr>
          <p:cNvSpPr txBox="1"/>
          <p:nvPr userDrawn="1"/>
        </p:nvSpPr>
        <p:spPr>
          <a:xfrm>
            <a:off x="10991273" y="6208499"/>
            <a:ext cx="70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355405D-DE4B-4B95-ACA0-07CE4BDBE28E}" type="slidenum">
              <a:rPr lang="de-DE" smtClean="0">
                <a:latin typeface="Mandatory" panose="02000400000000000000" pitchFamily="2" charset="0"/>
              </a:rPr>
              <a:pPr algn="r"/>
              <a:t>‹Nr.›</a:t>
            </a:fld>
            <a:endParaRPr lang="de-DE" dirty="0">
              <a:latin typeface="Mandatory" panose="02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506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6">
            <a:extLst>
              <a:ext uri="{FF2B5EF4-FFF2-40B4-BE49-F238E27FC236}">
                <a16:creationId xmlns:a16="http://schemas.microsoft.com/office/drawing/2014/main" id="{B9583DAC-1973-4C7C-88B6-AFBDC0F6F80F}"/>
              </a:ext>
            </a:extLst>
          </p:cNvPr>
          <p:cNvSpPr/>
          <p:nvPr/>
        </p:nvSpPr>
        <p:spPr>
          <a:xfrm rot="1643002">
            <a:off x="9529874" y="1162918"/>
            <a:ext cx="2185754" cy="2213606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61B453">
                <a:alpha val="32941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sp>
        <p:nvSpPr>
          <p:cNvPr id="3" name="Rechteck 7">
            <a:extLst>
              <a:ext uri="{FF2B5EF4-FFF2-40B4-BE49-F238E27FC236}">
                <a16:creationId xmlns:a16="http://schemas.microsoft.com/office/drawing/2014/main" id="{7F4D2869-BBF2-4327-9B78-06DF7E33F059}"/>
              </a:ext>
            </a:extLst>
          </p:cNvPr>
          <p:cNvSpPr/>
          <p:nvPr/>
        </p:nvSpPr>
        <p:spPr>
          <a:xfrm rot="701816">
            <a:off x="8280293" y="3816579"/>
            <a:ext cx="4248713" cy="3503514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61B453">
                <a:alpha val="32941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sp>
        <p:nvSpPr>
          <p:cNvPr id="4" name="Rechteck 8">
            <a:extLst>
              <a:ext uri="{FF2B5EF4-FFF2-40B4-BE49-F238E27FC236}">
                <a16:creationId xmlns:a16="http://schemas.microsoft.com/office/drawing/2014/main" id="{B5135FA9-5F40-4A92-BD3A-483C784A827E}"/>
              </a:ext>
            </a:extLst>
          </p:cNvPr>
          <p:cNvSpPr/>
          <p:nvPr/>
        </p:nvSpPr>
        <p:spPr>
          <a:xfrm rot="701816">
            <a:off x="-600341" y="6396302"/>
            <a:ext cx="4248713" cy="3503514"/>
          </a:xfrm>
          <a:prstGeom prst="rect">
            <a:avLst/>
          </a:prstGeom>
          <a:solidFill>
            <a:srgbClr val="61B453">
              <a:alpha val="69804"/>
            </a:srgbClr>
          </a:solidFill>
          <a:ln w="12701" cap="flat">
            <a:solidFill>
              <a:srgbClr val="61B453">
                <a:alpha val="32941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Mandatory" panose="02000400000000000000" pitchFamily="2" charset="0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EA2C97C-3CE0-4D80-9CC6-709A0B7A34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0771" y="234342"/>
            <a:ext cx="8963031" cy="635279"/>
          </a:xfrm>
        </p:spPr>
        <p:txBody>
          <a:bodyPr/>
          <a:lstStyle>
            <a:lvl1pPr>
              <a:defRPr>
                <a:latin typeface="Mandatory" panose="02000400000000000000" pitchFamily="2" charset="0"/>
              </a:defRPr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9E413635-3C0E-4BEE-9CA5-B2544548DBA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101723"/>
            <a:ext cx="10515600" cy="5106776"/>
          </a:xfrm>
        </p:spPr>
        <p:txBody>
          <a:bodyPr/>
          <a:lstStyle>
            <a:lvl1pPr>
              <a:defRPr>
                <a:latin typeface="Mandatory" panose="02000400000000000000" pitchFamily="2" charset="0"/>
              </a:defRPr>
            </a:lvl1pPr>
            <a:lvl2pPr>
              <a:defRPr>
                <a:latin typeface="Mandatory" panose="02000400000000000000" pitchFamily="2" charset="0"/>
              </a:defRPr>
            </a:lvl2pPr>
            <a:lvl3pPr>
              <a:defRPr>
                <a:latin typeface="Mandatory" panose="02000400000000000000" pitchFamily="2" charset="0"/>
              </a:defRPr>
            </a:lvl3pPr>
            <a:lvl4pPr>
              <a:defRPr>
                <a:latin typeface="Mandatory" panose="02000400000000000000" pitchFamily="2" charset="0"/>
              </a:defRPr>
            </a:lvl4pPr>
            <a:lvl5pPr>
              <a:defRPr>
                <a:latin typeface="Mandatory" panose="02000400000000000000" pitchFamily="2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Grafik 10">
            <a:extLst>
              <a:ext uri="{FF2B5EF4-FFF2-40B4-BE49-F238E27FC236}">
                <a16:creationId xmlns:a16="http://schemas.microsoft.com/office/drawing/2014/main" id="{06959209-53B0-48D6-8B09-CBB56E65D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44" y="230191"/>
            <a:ext cx="1973549" cy="63943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F6CBAFA-FB76-4058-8BE8-B5CCD5452792}"/>
              </a:ext>
            </a:extLst>
          </p:cNvPr>
          <p:cNvSpPr txBox="1"/>
          <p:nvPr userDrawn="1"/>
        </p:nvSpPr>
        <p:spPr>
          <a:xfrm>
            <a:off x="10991273" y="6208499"/>
            <a:ext cx="70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355405D-DE4B-4B95-ACA0-07CE4BDBE28E}" type="slidenum">
              <a:rPr lang="de-DE" smtClean="0">
                <a:latin typeface="Mandatory" panose="02000400000000000000" pitchFamily="2" charset="0"/>
              </a:rPr>
              <a:pPr algn="r"/>
              <a:t>‹Nr.›</a:t>
            </a:fld>
            <a:endParaRPr lang="de-DE" dirty="0">
              <a:latin typeface="Mandatory" panose="02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504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91AB52E-8BFB-4B99-8119-D5ED717A5B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1C553F-0C11-4AA0-B0DE-528B9B4DC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FF160C-56C0-4C56-8DFD-D18216911FD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3F390F32-C49A-4DCB-85D8-9F853B37474E}" type="datetime1">
              <a:rPr lang="de-DE" smtClean="0"/>
              <a:t>24.06.2018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093F0E-078C-4EDA-ABC7-ADFE84D973F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7CCBA-F53A-4C7D-983E-64F7996CCC9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fld id="{878A5921-F77D-4090-8F72-C7FFCAF1BCFC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4400" b="0" i="0" u="none" strike="noStrike" kern="1200" cap="none" spc="0" baseline="0">
          <a:solidFill>
            <a:srgbClr val="000000"/>
          </a:solidFill>
          <a:uFillTx/>
          <a:latin typeface="Manda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de-DE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AE08EBD-27CF-4EA7-B398-31D1FD1934E8}"/>
              </a:ext>
            </a:extLst>
          </p:cNvPr>
          <p:cNvSpPr txBox="1"/>
          <p:nvPr/>
        </p:nvSpPr>
        <p:spPr>
          <a:xfrm>
            <a:off x="1935332" y="1171851"/>
            <a:ext cx="53621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800" dirty="0">
                <a:latin typeface="Mandatory" panose="02000400000000000000" pitchFamily="2" charset="0"/>
              </a:rPr>
              <a:t>Filter </a:t>
            </a:r>
            <a:r>
              <a:rPr lang="de-DE" sz="8800" dirty="0" err="1">
                <a:latin typeface="Mandatory" panose="02000400000000000000" pitchFamily="2" charset="0"/>
              </a:rPr>
              <a:t>It</a:t>
            </a:r>
            <a:endParaRPr lang="de-DE" sz="8800" dirty="0">
              <a:latin typeface="Mandatory" panose="02000400000000000000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341DBD4-82B3-460B-A6D8-24A9B6525377}"/>
              </a:ext>
            </a:extLst>
          </p:cNvPr>
          <p:cNvSpPr txBox="1"/>
          <p:nvPr/>
        </p:nvSpPr>
        <p:spPr>
          <a:xfrm>
            <a:off x="1935332" y="4208015"/>
            <a:ext cx="5362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Mandatory" panose="02000400000000000000" pitchFamily="2" charset="0"/>
              </a:rPr>
              <a:t>Team Filter </a:t>
            </a:r>
            <a:r>
              <a:rPr lang="de-DE" sz="2400" dirty="0" err="1">
                <a:latin typeface="Mandatory" panose="02000400000000000000" pitchFamily="2" charset="0"/>
              </a:rPr>
              <a:t>It</a:t>
            </a:r>
            <a:endParaRPr lang="de-DE" sz="2400" dirty="0">
              <a:latin typeface="Mandatory" panose="02000400000000000000" pitchFamily="2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4E3DCDC-8186-4611-8D60-D2134CFBBCC5}"/>
              </a:ext>
            </a:extLst>
          </p:cNvPr>
          <p:cNvSpPr txBox="1"/>
          <p:nvPr/>
        </p:nvSpPr>
        <p:spPr>
          <a:xfrm>
            <a:off x="1935331" y="4669680"/>
            <a:ext cx="5362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Mandatory" panose="02000400000000000000" pitchFamily="2" charset="0"/>
              </a:rPr>
              <a:t>24.06.2018</a:t>
            </a:r>
          </a:p>
        </p:txBody>
      </p:sp>
    </p:spTree>
    <p:extLst>
      <p:ext uri="{BB962C8B-B14F-4D97-AF65-F5344CB8AC3E}">
        <p14:creationId xmlns:p14="http://schemas.microsoft.com/office/powerpoint/2010/main" val="1464425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E82E1CF-F901-48B9-A2A3-3B624106C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072" y="971129"/>
            <a:ext cx="7336126" cy="540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45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271ACC-D88D-4FF8-BFE3-80E48669F33C}"/>
              </a:ext>
            </a:extLst>
          </p:cNvPr>
          <p:cNvSpPr/>
          <p:nvPr/>
        </p:nvSpPr>
        <p:spPr>
          <a:xfrm>
            <a:off x="3875309" y="737364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Mandatory" panose="02000400000000000000" pitchFamily="2" charset="0"/>
              </a:rPr>
              <a:t>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F3B7FDB-9A1D-413E-BC31-FF44C2F3E221}"/>
              </a:ext>
            </a:extLst>
          </p:cNvPr>
          <p:cNvSpPr/>
          <p:nvPr/>
        </p:nvSpPr>
        <p:spPr>
          <a:xfrm>
            <a:off x="3875309" y="1819298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8F6C714-9393-446D-A8C2-7FD2C793C5E6}"/>
              </a:ext>
            </a:extLst>
          </p:cNvPr>
          <p:cNvSpPr/>
          <p:nvPr/>
        </p:nvSpPr>
        <p:spPr>
          <a:xfrm>
            <a:off x="3875308" y="2901232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F1A384-4C2B-4D25-80BB-F4D8561FE840}"/>
              </a:ext>
            </a:extLst>
          </p:cNvPr>
          <p:cNvSpPr txBox="1"/>
          <p:nvPr/>
        </p:nvSpPr>
        <p:spPr>
          <a:xfrm>
            <a:off x="4834550" y="806616"/>
            <a:ext cx="6819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Mandatory" panose="02000400000000000000" pitchFamily="2" charset="0"/>
              </a:rPr>
              <a:t>Artikel 13 Urheberrechtsreform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AD7AF7D-5760-4B80-A415-A5D294BA592F}"/>
              </a:ext>
            </a:extLst>
          </p:cNvPr>
          <p:cNvSpPr txBox="1"/>
          <p:nvPr/>
        </p:nvSpPr>
        <p:spPr>
          <a:xfrm>
            <a:off x="4834551" y="1888550"/>
            <a:ext cx="7239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err="1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Challenges</a:t>
            </a:r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 &amp; </a:t>
            </a:r>
            <a:r>
              <a:rPr lang="de-DE" sz="3600" dirty="0" err="1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Opportunities</a:t>
            </a:r>
            <a:endParaRPr lang="de-DE" sz="3600" dirty="0">
              <a:solidFill>
                <a:schemeClr val="bg1">
                  <a:lumMod val="65000"/>
                </a:schemeClr>
              </a:solidFill>
              <a:latin typeface="Mandatory" panose="020004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1EC0489-B9C7-4352-8E0F-18C17F7574F8}"/>
              </a:ext>
            </a:extLst>
          </p:cNvPr>
          <p:cNvSpPr txBox="1"/>
          <p:nvPr/>
        </p:nvSpPr>
        <p:spPr>
          <a:xfrm>
            <a:off x="4834551" y="2970484"/>
            <a:ext cx="298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707015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271ACC-D88D-4FF8-BFE3-80E48669F33C}"/>
              </a:ext>
            </a:extLst>
          </p:cNvPr>
          <p:cNvSpPr/>
          <p:nvPr/>
        </p:nvSpPr>
        <p:spPr>
          <a:xfrm>
            <a:off x="3875309" y="737364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F3B7FDB-9A1D-413E-BC31-FF44C2F3E221}"/>
              </a:ext>
            </a:extLst>
          </p:cNvPr>
          <p:cNvSpPr/>
          <p:nvPr/>
        </p:nvSpPr>
        <p:spPr>
          <a:xfrm>
            <a:off x="3875309" y="1819298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Mandatory" panose="02000400000000000000" pitchFamily="2" charset="0"/>
              </a:rPr>
              <a:t>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8F6C714-9393-446D-A8C2-7FD2C793C5E6}"/>
              </a:ext>
            </a:extLst>
          </p:cNvPr>
          <p:cNvSpPr/>
          <p:nvPr/>
        </p:nvSpPr>
        <p:spPr>
          <a:xfrm>
            <a:off x="3875308" y="2901232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F1A384-4C2B-4D25-80BB-F4D8561FE840}"/>
              </a:ext>
            </a:extLst>
          </p:cNvPr>
          <p:cNvSpPr txBox="1"/>
          <p:nvPr/>
        </p:nvSpPr>
        <p:spPr>
          <a:xfrm>
            <a:off x="4834551" y="806616"/>
            <a:ext cx="676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Artikel 13 Urheberrechtsreform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AD7AF7D-5760-4B80-A415-A5D294BA592F}"/>
              </a:ext>
            </a:extLst>
          </p:cNvPr>
          <p:cNvSpPr txBox="1"/>
          <p:nvPr/>
        </p:nvSpPr>
        <p:spPr>
          <a:xfrm>
            <a:off x="4834551" y="1888550"/>
            <a:ext cx="676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err="1">
                <a:latin typeface="Mandatory" panose="02000400000000000000" pitchFamily="2" charset="0"/>
              </a:rPr>
              <a:t>Challenges</a:t>
            </a:r>
            <a:r>
              <a:rPr lang="de-DE" sz="3600" dirty="0">
                <a:latin typeface="Mandatory" panose="02000400000000000000" pitchFamily="2" charset="0"/>
              </a:rPr>
              <a:t> &amp; </a:t>
            </a:r>
            <a:r>
              <a:rPr lang="de-DE" sz="3600" dirty="0" err="1">
                <a:latin typeface="Mandatory" panose="02000400000000000000" pitchFamily="2" charset="0"/>
              </a:rPr>
              <a:t>Opportunities</a:t>
            </a:r>
            <a:endParaRPr lang="de-DE" sz="3600" dirty="0">
              <a:latin typeface="Mandatory" panose="020004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1EC0489-B9C7-4352-8E0F-18C17F7574F8}"/>
              </a:ext>
            </a:extLst>
          </p:cNvPr>
          <p:cNvSpPr txBox="1"/>
          <p:nvPr/>
        </p:nvSpPr>
        <p:spPr>
          <a:xfrm>
            <a:off x="4834551" y="2970484"/>
            <a:ext cx="298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822276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271ACC-D88D-4FF8-BFE3-80E48669F33C}"/>
              </a:ext>
            </a:extLst>
          </p:cNvPr>
          <p:cNvSpPr/>
          <p:nvPr/>
        </p:nvSpPr>
        <p:spPr>
          <a:xfrm>
            <a:off x="3875309" y="737364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F3B7FDB-9A1D-413E-BC31-FF44C2F3E221}"/>
              </a:ext>
            </a:extLst>
          </p:cNvPr>
          <p:cNvSpPr/>
          <p:nvPr/>
        </p:nvSpPr>
        <p:spPr>
          <a:xfrm>
            <a:off x="3875309" y="1819298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8F6C714-9393-446D-A8C2-7FD2C793C5E6}"/>
              </a:ext>
            </a:extLst>
          </p:cNvPr>
          <p:cNvSpPr/>
          <p:nvPr/>
        </p:nvSpPr>
        <p:spPr>
          <a:xfrm>
            <a:off x="3875308" y="2901232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Mandatory" panose="02000400000000000000" pitchFamily="2" charset="0"/>
              </a:rPr>
              <a:t>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F1A384-4C2B-4D25-80BB-F4D8561FE840}"/>
              </a:ext>
            </a:extLst>
          </p:cNvPr>
          <p:cNvSpPr txBox="1"/>
          <p:nvPr/>
        </p:nvSpPr>
        <p:spPr>
          <a:xfrm>
            <a:off x="4834550" y="806616"/>
            <a:ext cx="6856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Artikel 13 Urheberrechtsreform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AD7AF7D-5760-4B80-A415-A5D294BA592F}"/>
              </a:ext>
            </a:extLst>
          </p:cNvPr>
          <p:cNvSpPr txBox="1"/>
          <p:nvPr/>
        </p:nvSpPr>
        <p:spPr>
          <a:xfrm>
            <a:off x="4834551" y="1888550"/>
            <a:ext cx="6856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err="1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Challenges</a:t>
            </a:r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 &amp; </a:t>
            </a:r>
            <a:r>
              <a:rPr lang="de-DE" sz="3600" dirty="0" err="1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Opportunities</a:t>
            </a:r>
            <a:endParaRPr lang="de-DE" sz="3600" dirty="0">
              <a:solidFill>
                <a:schemeClr val="bg1">
                  <a:lumMod val="65000"/>
                </a:schemeClr>
              </a:solidFill>
              <a:latin typeface="Mandatory" panose="020004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1EC0489-B9C7-4352-8E0F-18C17F7574F8}"/>
              </a:ext>
            </a:extLst>
          </p:cNvPr>
          <p:cNvSpPr txBox="1"/>
          <p:nvPr/>
        </p:nvSpPr>
        <p:spPr>
          <a:xfrm>
            <a:off x="4834551" y="2970484"/>
            <a:ext cx="298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Mandatory" panose="02000400000000000000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42639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90F62B8-C678-4468-991A-F7667CA7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Artikel 13 Urheberrechtsreform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FFD180D5-0713-41DB-AE7C-309071592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101723"/>
            <a:ext cx="10515600" cy="52060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 dirty="0" err="1"/>
              <a:t>Youtube</a:t>
            </a:r>
            <a:r>
              <a:rPr lang="de-DE" sz="3600" dirty="0"/>
              <a:t> haftet</a:t>
            </a:r>
          </a:p>
        </p:txBody>
      </p:sp>
      <p:pic>
        <p:nvPicPr>
          <p:cNvPr id="1026" name="Picture 2" descr="Bildergebnis fÃ¼r Katzenbilder">
            <a:extLst>
              <a:ext uri="{FF2B5EF4-FFF2-40B4-BE49-F238E27FC236}">
                <a16:creationId xmlns:a16="http://schemas.microsoft.com/office/drawing/2014/main" id="{0DB1E7C3-835F-4E77-8341-EE02545B5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163" y="1831134"/>
            <a:ext cx="5691674" cy="426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53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271ACC-D88D-4FF8-BFE3-80E48669F33C}"/>
              </a:ext>
            </a:extLst>
          </p:cNvPr>
          <p:cNvSpPr/>
          <p:nvPr/>
        </p:nvSpPr>
        <p:spPr>
          <a:xfrm>
            <a:off x="3875309" y="737364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F3B7FDB-9A1D-413E-BC31-FF44C2F3E221}"/>
              </a:ext>
            </a:extLst>
          </p:cNvPr>
          <p:cNvSpPr/>
          <p:nvPr/>
        </p:nvSpPr>
        <p:spPr>
          <a:xfrm>
            <a:off x="3875309" y="1819298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Mandatory" panose="02000400000000000000" pitchFamily="2" charset="0"/>
              </a:rPr>
              <a:t>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8F6C714-9393-446D-A8C2-7FD2C793C5E6}"/>
              </a:ext>
            </a:extLst>
          </p:cNvPr>
          <p:cNvSpPr/>
          <p:nvPr/>
        </p:nvSpPr>
        <p:spPr>
          <a:xfrm>
            <a:off x="3875308" y="2901232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F1A384-4C2B-4D25-80BB-F4D8561FE840}"/>
              </a:ext>
            </a:extLst>
          </p:cNvPr>
          <p:cNvSpPr txBox="1"/>
          <p:nvPr/>
        </p:nvSpPr>
        <p:spPr>
          <a:xfrm>
            <a:off x="4834550" y="806616"/>
            <a:ext cx="6698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Artikel 13 Urheberrechtsreform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AD7AF7D-5760-4B80-A415-A5D294BA592F}"/>
              </a:ext>
            </a:extLst>
          </p:cNvPr>
          <p:cNvSpPr txBox="1"/>
          <p:nvPr/>
        </p:nvSpPr>
        <p:spPr>
          <a:xfrm>
            <a:off x="4834551" y="1897881"/>
            <a:ext cx="6698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err="1">
                <a:latin typeface="Mandatory" panose="02000400000000000000" pitchFamily="2" charset="0"/>
              </a:rPr>
              <a:t>Challenges</a:t>
            </a:r>
            <a:r>
              <a:rPr lang="de-DE" sz="3600" dirty="0">
                <a:latin typeface="Mandatory" panose="02000400000000000000" pitchFamily="2" charset="0"/>
              </a:rPr>
              <a:t> &amp; </a:t>
            </a:r>
            <a:r>
              <a:rPr lang="de-DE" sz="3600" dirty="0" err="1">
                <a:latin typeface="Mandatory" panose="02000400000000000000" pitchFamily="2" charset="0"/>
              </a:rPr>
              <a:t>Opportunities</a:t>
            </a:r>
            <a:endParaRPr lang="de-DE" sz="3600" dirty="0">
              <a:latin typeface="Mandatory" panose="020004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1EC0489-B9C7-4352-8E0F-18C17F7574F8}"/>
              </a:ext>
            </a:extLst>
          </p:cNvPr>
          <p:cNvSpPr txBox="1"/>
          <p:nvPr/>
        </p:nvSpPr>
        <p:spPr>
          <a:xfrm>
            <a:off x="4834551" y="2970484"/>
            <a:ext cx="298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24998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90F62B8-C678-4468-991A-F7667CA7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Challenges</a:t>
            </a:r>
            <a:r>
              <a:rPr lang="de-DE" dirty="0"/>
              <a:t> &amp; </a:t>
            </a:r>
            <a:r>
              <a:rPr lang="de-DE" dirty="0" err="1"/>
              <a:t>Opportunities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39E32AC-DEEB-4CA1-AB33-A452A37C8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784" y="1362249"/>
            <a:ext cx="5984432" cy="3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0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E15A0D-1D59-4155-B9B3-9F7432EB0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Challenges</a:t>
            </a:r>
            <a:r>
              <a:rPr lang="de-DE" dirty="0"/>
              <a:t> &amp; </a:t>
            </a:r>
            <a:r>
              <a:rPr lang="de-DE" dirty="0" err="1"/>
              <a:t>Opportunities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0A83DFD-0A4C-462E-9C9F-6C0401CF6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784" y="1362249"/>
            <a:ext cx="5984432" cy="3366243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2A3F5144-6F1B-46B9-874F-1F2C219D538F}"/>
              </a:ext>
            </a:extLst>
          </p:cNvPr>
          <p:cNvSpPr/>
          <p:nvPr/>
        </p:nvSpPr>
        <p:spPr>
          <a:xfrm>
            <a:off x="969632" y="4973968"/>
            <a:ext cx="3939898" cy="110868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latin typeface="Mandatory" panose="02000400000000000000" pitchFamily="50" charset="0"/>
              </a:rPr>
              <a:t>Produktinnovation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7CD4E01-3C17-4FF9-8314-F1D05C61958C}"/>
              </a:ext>
            </a:extLst>
          </p:cNvPr>
          <p:cNvSpPr/>
          <p:nvPr/>
        </p:nvSpPr>
        <p:spPr>
          <a:xfrm>
            <a:off x="6872286" y="4940804"/>
            <a:ext cx="3939898" cy="110868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latin typeface="Mandatory" panose="02000400000000000000" pitchFamily="50" charset="0"/>
              </a:rPr>
              <a:t>Neuer Markt</a:t>
            </a:r>
          </a:p>
        </p:txBody>
      </p:sp>
    </p:spTree>
    <p:extLst>
      <p:ext uri="{BB962C8B-B14F-4D97-AF65-F5344CB8AC3E}">
        <p14:creationId xmlns:p14="http://schemas.microsoft.com/office/powerpoint/2010/main" val="1157635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271ACC-D88D-4FF8-BFE3-80E48669F33C}"/>
              </a:ext>
            </a:extLst>
          </p:cNvPr>
          <p:cNvSpPr/>
          <p:nvPr/>
        </p:nvSpPr>
        <p:spPr>
          <a:xfrm>
            <a:off x="3875309" y="737364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F3B7FDB-9A1D-413E-BC31-FF44C2F3E221}"/>
              </a:ext>
            </a:extLst>
          </p:cNvPr>
          <p:cNvSpPr/>
          <p:nvPr/>
        </p:nvSpPr>
        <p:spPr>
          <a:xfrm>
            <a:off x="3875309" y="1819298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8F6C714-9393-446D-A8C2-7FD2C793C5E6}"/>
              </a:ext>
            </a:extLst>
          </p:cNvPr>
          <p:cNvSpPr/>
          <p:nvPr/>
        </p:nvSpPr>
        <p:spPr>
          <a:xfrm>
            <a:off x="3875308" y="2901232"/>
            <a:ext cx="793827" cy="784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Mandatory" panose="02000400000000000000" pitchFamily="2" charset="0"/>
              </a:rPr>
              <a:t>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F1A384-4C2B-4D25-80BB-F4D8561FE840}"/>
              </a:ext>
            </a:extLst>
          </p:cNvPr>
          <p:cNvSpPr txBox="1"/>
          <p:nvPr/>
        </p:nvSpPr>
        <p:spPr>
          <a:xfrm>
            <a:off x="4834551" y="806616"/>
            <a:ext cx="6800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Artikel 13 Urheberrechtsreform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AD7AF7D-5760-4B80-A415-A5D294BA592F}"/>
              </a:ext>
            </a:extLst>
          </p:cNvPr>
          <p:cNvSpPr txBox="1"/>
          <p:nvPr/>
        </p:nvSpPr>
        <p:spPr>
          <a:xfrm>
            <a:off x="4834551" y="1888550"/>
            <a:ext cx="5966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err="1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Challenges</a:t>
            </a:r>
            <a:r>
              <a:rPr lang="de-DE" sz="3600" dirty="0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 &amp; </a:t>
            </a:r>
            <a:r>
              <a:rPr lang="de-DE" sz="3600" dirty="0" err="1">
                <a:solidFill>
                  <a:schemeClr val="bg1">
                    <a:lumMod val="65000"/>
                  </a:schemeClr>
                </a:solidFill>
                <a:latin typeface="Mandatory" panose="02000400000000000000" pitchFamily="2" charset="0"/>
              </a:rPr>
              <a:t>Opportunities</a:t>
            </a:r>
            <a:endParaRPr lang="de-DE" sz="3600" dirty="0">
              <a:solidFill>
                <a:schemeClr val="bg1">
                  <a:lumMod val="65000"/>
                </a:schemeClr>
              </a:solidFill>
              <a:latin typeface="Mandatory" panose="020004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1EC0489-B9C7-4352-8E0F-18C17F7574F8}"/>
              </a:ext>
            </a:extLst>
          </p:cNvPr>
          <p:cNvSpPr txBox="1"/>
          <p:nvPr/>
        </p:nvSpPr>
        <p:spPr>
          <a:xfrm>
            <a:off x="4834551" y="2970484"/>
            <a:ext cx="298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Mandatory" panose="02000400000000000000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631094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1C1ED-261D-4EE9-A831-BB973D63B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Solution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22A1A2-5805-4B6E-B17A-6973AD281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3202" y="3529922"/>
            <a:ext cx="402437" cy="46244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de-DE" sz="3600" dirty="0"/>
              <a:t>+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2700FA5-80E1-4B4D-9BE1-D9143B3539AE}"/>
              </a:ext>
            </a:extLst>
          </p:cNvPr>
          <p:cNvSpPr txBox="1">
            <a:spLocks/>
          </p:cNvSpPr>
          <p:nvPr/>
        </p:nvSpPr>
        <p:spPr>
          <a:xfrm>
            <a:off x="5369235" y="3529921"/>
            <a:ext cx="413641" cy="46244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28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24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20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/>
              <a:buNone/>
            </a:pPr>
            <a:r>
              <a:rPr lang="de-DE" sz="3600" dirty="0"/>
              <a:t>=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1DF291D-9B37-41A5-B784-5668D1380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441" y="2923417"/>
            <a:ext cx="2791922" cy="151043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BC7F7C6-6634-4CA9-984E-F2A15F1F4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38" y="2367724"/>
            <a:ext cx="4300682" cy="139342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4B5CA60-602C-42BB-BB8D-5669E4F24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11391" y="2990416"/>
            <a:ext cx="1366000" cy="154146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69B3866B-13C7-489A-8A34-4757A26853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711" y="3992370"/>
            <a:ext cx="3971335" cy="113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87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1375CDB-312E-4930-A1C3-07A05FCCF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37" y="2166330"/>
            <a:ext cx="6817941" cy="220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42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0C9AA9-D947-4AB7-8DCD-DC86A38A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BackUp</a:t>
            </a:r>
            <a:endParaRPr lang="de-DE" dirty="0"/>
          </a:p>
        </p:txBody>
      </p:sp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2F96AE55-9DBF-4091-9BC3-30255BCAA05C}"/>
              </a:ext>
            </a:extLst>
          </p:cNvPr>
          <p:cNvSpPr txBox="1">
            <a:spLocks/>
          </p:cNvSpPr>
          <p:nvPr/>
        </p:nvSpPr>
        <p:spPr>
          <a:xfrm>
            <a:off x="468312" y="1412877"/>
            <a:ext cx="8208143" cy="467994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 fontScale="92500" lnSpcReduction="20000"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28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24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20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Mandatory" panose="020004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Prämie: </a:t>
            </a:r>
          </a:p>
          <a:p>
            <a:pPr lvl="1"/>
            <a:r>
              <a:rPr lang="de-DE" dirty="0"/>
              <a:t>Wofür Webseite? </a:t>
            </a:r>
          </a:p>
          <a:p>
            <a:pPr lvl="1"/>
            <a:r>
              <a:rPr lang="de-DE" dirty="0"/>
              <a:t>Wie groß? </a:t>
            </a:r>
          </a:p>
          <a:p>
            <a:pPr lvl="1"/>
            <a:r>
              <a:rPr lang="de-DE" dirty="0"/>
              <a:t>Wer stellt Inhalte bereit?</a:t>
            </a:r>
          </a:p>
          <a:p>
            <a:pPr lvl="1"/>
            <a:r>
              <a:rPr lang="de-DE" dirty="0"/>
              <a:t>Erfahrungswerte!</a:t>
            </a:r>
          </a:p>
          <a:p>
            <a:pPr lvl="1"/>
            <a:r>
              <a:rPr lang="de-DE" dirty="0"/>
              <a:t>…</a:t>
            </a:r>
          </a:p>
          <a:p>
            <a:r>
              <a:rPr lang="de-DE" b="1" dirty="0"/>
              <a:t>Leistungen:</a:t>
            </a:r>
          </a:p>
          <a:p>
            <a:pPr lvl="1"/>
            <a:r>
              <a:rPr lang="de-DE" sz="2800" dirty="0"/>
              <a:t>Komplette Schadensregulierung: </a:t>
            </a:r>
          </a:p>
          <a:p>
            <a:pPr lvl="2"/>
            <a:r>
              <a:rPr lang="de-DE" sz="2400" dirty="0"/>
              <a:t>Prüfung der Vorwürfe</a:t>
            </a:r>
            <a:endParaRPr lang="de-DE" sz="2400" b="1" dirty="0"/>
          </a:p>
          <a:p>
            <a:pPr lvl="2"/>
            <a:r>
              <a:rPr lang="de-DE" sz="2400" dirty="0"/>
              <a:t>Übernahme der Kosten (Rechtsdurchsetzung, Schäden, Prämien)</a:t>
            </a:r>
            <a:endParaRPr lang="de-DE" sz="2400" b="1" dirty="0"/>
          </a:p>
          <a:p>
            <a:r>
              <a:rPr lang="de-DE" b="1" dirty="0"/>
              <a:t>Produkte:</a:t>
            </a:r>
            <a:endParaRPr lang="de-DE" dirty="0"/>
          </a:p>
          <a:p>
            <a:pPr lvl="1"/>
            <a:r>
              <a:rPr lang="de-DE" dirty="0"/>
              <a:t>Betriebs-/Haftpflicht</a:t>
            </a:r>
            <a:r>
              <a:rPr lang="de-DE" b="1" dirty="0"/>
              <a:t> &gt; SV </a:t>
            </a:r>
            <a:r>
              <a:rPr lang="de-DE" b="1" dirty="0" err="1"/>
              <a:t>FirmenPolice</a:t>
            </a:r>
            <a:r>
              <a:rPr lang="de-DE" b="1" dirty="0"/>
              <a:t>, SV </a:t>
            </a:r>
            <a:r>
              <a:rPr lang="de-DE" b="1" dirty="0" err="1"/>
              <a:t>Cyber</a:t>
            </a:r>
            <a:endParaRPr lang="de-DE" dirty="0"/>
          </a:p>
          <a:p>
            <a:pPr lvl="1"/>
            <a:r>
              <a:rPr lang="de-DE" dirty="0"/>
              <a:t>Eigenes Produkt </a:t>
            </a:r>
            <a:r>
              <a:rPr lang="de-DE" b="1" dirty="0"/>
              <a:t>&gt; SV </a:t>
            </a:r>
            <a:r>
              <a:rPr lang="de-DE" b="1" dirty="0" err="1"/>
              <a:t>FilterIT</a:t>
            </a:r>
            <a:endParaRPr lang="de-DE" sz="2800" dirty="0"/>
          </a:p>
          <a:p>
            <a:endParaRPr lang="de-DE" dirty="0"/>
          </a:p>
        </p:txBody>
      </p:sp>
      <p:pic>
        <p:nvPicPr>
          <p:cNvPr id="5" name="Picture 14" descr="Kein automatischer Alternativtext verfÃ¼gbar.">
            <a:extLst>
              <a:ext uri="{FF2B5EF4-FFF2-40B4-BE49-F238E27FC236}">
                <a16:creationId xmlns:a16="http://schemas.microsoft.com/office/drawing/2014/main" id="{3E0D568A-E0F7-4EC5-9F01-7EC8FC442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895" y="234342"/>
            <a:ext cx="1551124" cy="129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385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82D740-D646-42A8-97EB-5A7D38D39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BackUp</a:t>
            </a:r>
            <a:endParaRPr lang="de-DE" dirty="0"/>
          </a:p>
        </p:txBody>
      </p:sp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743F1F7A-8970-4D2C-AD3E-E1AFF1AAF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2" y="1412877"/>
            <a:ext cx="8208143" cy="4679949"/>
          </a:xfrm>
        </p:spPr>
        <p:txBody>
          <a:bodyPr/>
          <a:lstStyle/>
          <a:p>
            <a:r>
              <a:rPr lang="de-DE" dirty="0"/>
              <a:t>Datenanalyse (Metadaten,…)</a:t>
            </a:r>
          </a:p>
          <a:p>
            <a:r>
              <a:rPr lang="de-DE" dirty="0"/>
              <a:t>Bildanalyse (Gesichtserkennung, OCR, …)</a:t>
            </a:r>
          </a:p>
          <a:p>
            <a:r>
              <a:rPr lang="de-DE" dirty="0"/>
              <a:t>Audioanalyse (Sprecheranalyse, Tonfolgen)</a:t>
            </a:r>
          </a:p>
          <a:p>
            <a:r>
              <a:rPr lang="de-DE" dirty="0"/>
              <a:t>Videoanalyse</a:t>
            </a:r>
          </a:p>
          <a:p>
            <a:r>
              <a:rPr lang="de-DE" dirty="0"/>
              <a:t>Abgleich mit Datenbanken (Gema, ACR-Cloud, </a:t>
            </a:r>
            <a:r>
              <a:rPr lang="de-DE" dirty="0" err="1"/>
              <a:t>FilterIT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8023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Breitbild</PresentationFormat>
  <Paragraphs>62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Arial</vt:lpstr>
      <vt:lpstr>Calibri</vt:lpstr>
      <vt:lpstr>Manda</vt:lpstr>
      <vt:lpstr>Mandatory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Artikel 13 Urheberrechtsreform</vt:lpstr>
      <vt:lpstr>PowerPoint-Präsentation</vt:lpstr>
      <vt:lpstr>Challenges &amp; Opportunities</vt:lpstr>
      <vt:lpstr>Challenges &amp; Opportunities</vt:lpstr>
      <vt:lpstr>PowerPoint-Präsentation</vt:lpstr>
      <vt:lpstr>Solution</vt:lpstr>
      <vt:lpstr>PowerPoint-Präsentation</vt:lpstr>
      <vt:lpstr>BackUp</vt:lpstr>
      <vt:lpstr>BackUp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Wolf, Fabian</dc:creator>
  <cp:lastModifiedBy>Alice Grützner</cp:lastModifiedBy>
  <cp:revision>47</cp:revision>
  <dcterms:created xsi:type="dcterms:W3CDTF">2018-06-23T18:11:43Z</dcterms:created>
  <dcterms:modified xsi:type="dcterms:W3CDTF">2018-06-24T13:24:13Z</dcterms:modified>
</cp:coreProperties>
</file>